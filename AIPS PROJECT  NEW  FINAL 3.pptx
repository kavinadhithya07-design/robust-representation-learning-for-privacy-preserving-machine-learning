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  <p:sldMasterId id="2147483674" r:id="rId3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6" r:id="rId9"/>
    <p:sldId id="267" r:id="rId10"/>
    <p:sldId id="261" r:id="rId11"/>
    <p:sldId id="262" r:id="rId12"/>
    <p:sldId id="263" r:id="rId13"/>
    <p:sldId id="264" r:id="rId14"/>
    <p:sldId id="265" r:id="rId15"/>
  </p:sldIdLst>
  <p:sldSz cx="12192000" cy="6858000"/>
  <p:notesSz cx="7772400" cy="10058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398963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12" name="Google Shape;212;p1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22" name="Google Shape;222;p2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0" name="Google Shape;240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9" name="Google Shape;249;p5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58" name="Google Shape;258;p6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67" name="Google Shape;267;p7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:notes"/>
          <p:cNvSpPr txBox="1"/>
          <p:nvPr/>
        </p:nvSpPr>
        <p:spPr>
          <a:xfrm>
            <a:off x="4398962" y="9555162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276" name="Google Shape;276;p8:notes"/>
          <p:cNvSpPr txBox="1">
            <a:spLocks noGrp="1"/>
          </p:cNvSpPr>
          <p:nvPr>
            <p:ph type="body" idx="1"/>
          </p:nvPr>
        </p:nvSpPr>
        <p:spPr>
          <a:xfrm>
            <a:off x="777875" y="4776787"/>
            <a:ext cx="6218237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94" name="Google Shape;294;p1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3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2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body" idx="1"/>
          </p:nvPr>
        </p:nvSpPr>
        <p:spPr>
          <a:xfrm>
            <a:off x="609601" y="1604963"/>
            <a:ext cx="5382684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body" idx="2"/>
          </p:nvPr>
        </p:nvSpPr>
        <p:spPr>
          <a:xfrm>
            <a:off x="6195484" y="1604963"/>
            <a:ext cx="5384800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1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1"/>
          <p:cNvSpPr txBox="1">
            <a:spLocks noGrp="1"/>
          </p:cNvSpPr>
          <p:nvPr>
            <p:ph type="body" idx="1"/>
          </p:nvPr>
        </p:nvSpPr>
        <p:spPr>
          <a:xfrm rot="5400000">
            <a:off x="4107657" y="-1893094"/>
            <a:ext cx="3975100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>
            <a:spLocks noGrp="1"/>
          </p:cNvSpPr>
          <p:nvPr>
            <p:ph type="title"/>
          </p:nvPr>
        </p:nvSpPr>
        <p:spPr>
          <a:xfrm rot="5400000">
            <a:off x="8222193" y="2221971"/>
            <a:ext cx="3975100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2"/>
          <p:cNvSpPr txBox="1">
            <a:spLocks noGrp="1"/>
          </p:cNvSpPr>
          <p:nvPr>
            <p:ph type="body" idx="1"/>
          </p:nvPr>
        </p:nvSpPr>
        <p:spPr>
          <a:xfrm rot="5400000">
            <a:off x="2635250" y="-420687"/>
            <a:ext cx="3975100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3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6" name="Google Shape;96;p3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5"/>
          <p:cNvSpPr txBox="1">
            <a:spLocks noGrp="1"/>
          </p:cNvSpPr>
          <p:nvPr>
            <p:ph type="body" idx="1"/>
          </p:nvPr>
        </p:nvSpPr>
        <p:spPr>
          <a:xfrm>
            <a:off x="609601" y="1600201"/>
            <a:ext cx="5382684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1" name="Google Shape;101;p35"/>
          <p:cNvSpPr txBox="1">
            <a:spLocks noGrp="1"/>
          </p:cNvSpPr>
          <p:nvPr>
            <p:ph type="body" idx="2"/>
          </p:nvPr>
        </p:nvSpPr>
        <p:spPr>
          <a:xfrm>
            <a:off x="6195484" y="1600201"/>
            <a:ext cx="53848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2" name="Google Shape;102;p3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7" name="Google Shape;107;p3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8" name="Google Shape;108;p3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9" name="Google Shape;109;p3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10" name="Google Shape;110;p3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122" name="Google Shape;122;p3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3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4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4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9" name="Google Shape;129;p4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4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9"/>
            <a:ext cx="4524375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4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4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2"/>
          <p:cNvSpPr txBox="1">
            <a:spLocks noGrp="1"/>
          </p:cNvSpPr>
          <p:nvPr>
            <p:ph type="title"/>
          </p:nvPr>
        </p:nvSpPr>
        <p:spPr>
          <a:xfrm rot="5400000">
            <a:off x="7284774" y="1829066"/>
            <a:ext cx="5849937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42"/>
          <p:cNvSpPr txBox="1">
            <a:spLocks noGrp="1"/>
          </p:cNvSpPr>
          <p:nvPr>
            <p:ph type="body" idx="1"/>
          </p:nvPr>
        </p:nvSpPr>
        <p:spPr>
          <a:xfrm rot="5400000">
            <a:off x="1697831" y="-813592"/>
            <a:ext cx="5849937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4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4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3"/>
          <p:cNvSpPr txBox="1"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4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4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4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44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4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4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4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67" name="Google Shape;167;p4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4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6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46"/>
          <p:cNvSpPr txBox="1">
            <a:spLocks noGrp="1"/>
          </p:cNvSpPr>
          <p:nvPr>
            <p:ph type="body" idx="1"/>
          </p:nvPr>
        </p:nvSpPr>
        <p:spPr>
          <a:xfrm>
            <a:off x="609601" y="1604963"/>
            <a:ext cx="5382684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2" name="Google Shape;172;p46"/>
          <p:cNvSpPr txBox="1">
            <a:spLocks noGrp="1"/>
          </p:cNvSpPr>
          <p:nvPr>
            <p:ph type="body" idx="2"/>
          </p:nvPr>
        </p:nvSpPr>
        <p:spPr>
          <a:xfrm>
            <a:off x="6195484" y="1604963"/>
            <a:ext cx="5384800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3" name="Google Shape;173;p4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4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4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8" name="Google Shape;178;p4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79" name="Google Shape;179;p4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0" name="Google Shape;180;p4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81" name="Google Shape;181;p4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8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4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4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4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190" name="Google Shape;190;p4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91" name="Google Shape;191;p4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4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5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5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97" name="Google Shape;197;p5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5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1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51"/>
          <p:cNvSpPr txBox="1">
            <a:spLocks noGrp="1"/>
          </p:cNvSpPr>
          <p:nvPr>
            <p:ph type="body" idx="1"/>
          </p:nvPr>
        </p:nvSpPr>
        <p:spPr>
          <a:xfrm rot="5400000">
            <a:off x="4107657" y="-1893094"/>
            <a:ext cx="3975100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5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5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2"/>
          <p:cNvSpPr txBox="1">
            <a:spLocks noGrp="1"/>
          </p:cNvSpPr>
          <p:nvPr>
            <p:ph type="title"/>
          </p:nvPr>
        </p:nvSpPr>
        <p:spPr>
          <a:xfrm rot="5400000">
            <a:off x="7556236" y="1556015"/>
            <a:ext cx="5307013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52"/>
          <p:cNvSpPr txBox="1">
            <a:spLocks noGrp="1"/>
          </p:cNvSpPr>
          <p:nvPr>
            <p:ph type="body" idx="1"/>
          </p:nvPr>
        </p:nvSpPr>
        <p:spPr>
          <a:xfrm rot="5400000">
            <a:off x="1969294" y="-1086643"/>
            <a:ext cx="530701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5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5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5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17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0" name="Google Shape;150;p19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1drv.ms/x/c/9f563ff484e75610/IQA8QGd-04vPRqyB4lVMGXOkAS4TfMWQRYAclklc5sh8Zfo?e=2BdTKr" TargetMode="Externa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"/>
          <p:cNvSpPr txBox="1">
            <a:spLocks noGrp="1"/>
          </p:cNvSpPr>
          <p:nvPr>
            <p:ph type="subTitle" idx="4294967295"/>
          </p:nvPr>
        </p:nvSpPr>
        <p:spPr>
          <a:xfrm>
            <a:off x="523836" y="3605131"/>
            <a:ext cx="11668200" cy="271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                                                                                               GUIDED BY 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70000"/>
              </a:lnSpc>
              <a:spcBef>
                <a:spcPts val="365"/>
              </a:spcBef>
              <a:buSzPts val="1800"/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KAVILAKSHMI B</a:t>
            </a:r>
            <a:r>
              <a:rPr lang="en-US" sz="1800" b="1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</a:t>
            </a: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                      </a:t>
            </a: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-2403811724322045                        Ms. ADEEBA AAISHA F </a:t>
            </a:r>
            <a:endParaRPr lang="fi-FI" sz="1800" b="1" i="0" u="none" strike="noStrike" cap="none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lnSpc>
                <a:spcPct val="170000"/>
              </a:lnSpc>
              <a:spcBef>
                <a:spcPts val="365"/>
              </a:spcBef>
              <a:buSzPts val="1800"/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KAVIN ADHITHYA A S                     </a:t>
            </a:r>
            <a:r>
              <a:rPr lang="fi-FI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-2403811724321046                                     </a:t>
            </a:r>
            <a:r>
              <a:rPr lang="fi-FI" sz="18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 /</a:t>
            </a:r>
            <a:r>
              <a:rPr lang="fi-FI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AIDS</a:t>
            </a:r>
          </a:p>
          <a:p>
            <a:pPr marL="0" lvl="0" indent="0">
              <a:lnSpc>
                <a:spcPct val="170000"/>
              </a:lnSpc>
              <a:spcBef>
                <a:spcPts val="365"/>
              </a:spcBef>
              <a:buSzPts val="1800"/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KAVITHA P                                          </a:t>
            </a: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- 2403811724322047</a:t>
            </a:r>
            <a:endParaRPr sz="1800" b="1" i="0" u="none" strike="noStrike" cap="none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lnSpc>
                <a:spcPct val="170000"/>
              </a:lnSpc>
              <a:spcBef>
                <a:spcPts val="365"/>
              </a:spcBef>
              <a:buSzPts val="1800"/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KAVIYA K                                            </a:t>
            </a: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- 2403811724322048                       </a:t>
            </a:r>
            <a:r>
              <a:rPr lang="en-US" sz="18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									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"/>
          <p:cNvSpPr/>
          <p:nvPr/>
        </p:nvSpPr>
        <p:spPr>
          <a:xfrm>
            <a:off x="1679575" y="-1684337"/>
            <a:ext cx="3543300" cy="3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"/>
          <p:cNvSpPr/>
          <p:nvPr/>
        </p:nvSpPr>
        <p:spPr>
          <a:xfrm>
            <a:off x="1679575" y="526338"/>
            <a:ext cx="8437500" cy="26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K.RAMAKRISHNAN COLLEGE OF TECHNOLOGY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(AUTONOMOUS), TRICHY</a:t>
            </a:r>
            <a:br>
              <a:rPr lang="en-US" sz="2000" b="1" i="0" u="none" strike="noStrike" cap="none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 b="1" i="0" u="none" strike="noStrike" cap="none" dirty="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endParaRPr sz="2700" b="1" i="0" u="none" strike="noStrike" cap="none" dirty="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F3B9D57-2BBB-A942-06D1-DC498B5780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589158"/>
              </p:ext>
            </p:extLst>
          </p:nvPr>
        </p:nvGraphicFramePr>
        <p:xfrm>
          <a:off x="1252853" y="1578014"/>
          <a:ext cx="10210165" cy="1285797"/>
        </p:xfrm>
        <a:graphic>
          <a:graphicData uri="http://schemas.openxmlformats.org/drawingml/2006/table">
            <a:tbl>
              <a:tblPr/>
              <a:tblGrid>
                <a:gridCol w="10210165">
                  <a:extLst>
                    <a:ext uri="{9D8B030D-6E8A-4147-A177-3AD203B41FA5}">
                      <a16:colId xmlns:a16="http://schemas.microsoft.com/office/drawing/2014/main" val="1781862799"/>
                    </a:ext>
                  </a:extLst>
                </a:gridCol>
              </a:tblGrid>
              <a:tr h="128579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2400" b="1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Robust Representation Learning for Privacy-Preserving Machine Learning:</a:t>
                      </a:r>
                    </a:p>
                    <a:p>
                      <a:pPr rtl="0" fontAlgn="ctr">
                        <a:buNone/>
                      </a:pPr>
                      <a:r>
                        <a:rPr lang="en-IN" sz="2400" b="1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 A Multi-Objective Autoencoder Approach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0586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OVERVIEW</a:t>
            </a:r>
            <a:endParaRPr sz="30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"/>
          <p:cNvSpPr txBox="1"/>
          <p:nvPr/>
        </p:nvSpPr>
        <p:spPr>
          <a:xfrm>
            <a:off x="985548" y="1556792"/>
            <a:ext cx="10520363" cy="4751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just">
              <a:lnSpc>
                <a:spcPct val="150000"/>
              </a:lnSpc>
              <a:spcBef>
                <a:spcPts val="325"/>
              </a:spcBef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Abstract </a:t>
            </a:r>
          </a:p>
          <a:p>
            <a:pPr marL="457200" lvl="0" indent="-355600" algn="just">
              <a:lnSpc>
                <a:spcPct val="150000"/>
              </a:lnSpc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Objective </a:t>
            </a:r>
          </a:p>
          <a:p>
            <a:pPr marL="457200" lvl="0" indent="-355600" algn="just">
              <a:lnSpc>
                <a:spcPct val="150000"/>
              </a:lnSpc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Architecture diagram</a:t>
            </a:r>
          </a:p>
          <a:p>
            <a:pPr marL="457200" lvl="0" indent="-355600" algn="just">
              <a:lnSpc>
                <a:spcPct val="150000"/>
              </a:lnSpc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</a:p>
          <a:p>
            <a:pPr marL="457200" lvl="0" indent="-355600" algn="just">
              <a:lnSpc>
                <a:spcPct val="150000"/>
              </a:lnSpc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Research methodology </a:t>
            </a:r>
          </a:p>
          <a:p>
            <a:pPr marL="457200" lvl="0" indent="-355600" algn="just">
              <a:lnSpc>
                <a:spcPct val="150000"/>
              </a:lnSpc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Existing system </a:t>
            </a:r>
          </a:p>
          <a:p>
            <a:pPr marL="457200" lvl="0" indent="-355600" algn="just">
              <a:lnSpc>
                <a:spcPct val="150000"/>
              </a:lnSpc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Proposed system </a:t>
            </a:r>
          </a:p>
          <a:p>
            <a:pPr marL="457200" lvl="0" indent="-355600" algn="just">
              <a:lnSpc>
                <a:spcPct val="150000"/>
              </a:lnSpc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Conclusion </a:t>
            </a:r>
          </a:p>
          <a:p>
            <a:pPr marL="457200" lvl="0" indent="-355600" algn="just">
              <a:lnSpc>
                <a:spcPct val="150000"/>
              </a:lnSpc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Future enhancement</a:t>
            </a:r>
          </a:p>
          <a:p>
            <a:pPr marL="342900" marR="0" lvl="0" indent="-239395" algn="just" rtl="0">
              <a:lnSpc>
                <a:spcPct val="20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6" name="Google Shape;22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rPr>
              <a:t>2/7/20</a:t>
            </a:r>
            <a:endParaRPr sz="1200" b="0" i="0" u="none" strike="noStrike" cap="none">
              <a:solidFill>
                <a:srgbClr val="8B8B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"/>
          <p:cNvSpPr txBox="1">
            <a:spLocks noGrp="1"/>
          </p:cNvSpPr>
          <p:nvPr>
            <p:ph type="title"/>
          </p:nvPr>
        </p:nvSpPr>
        <p:spPr>
          <a:xfrm>
            <a:off x="2159000" y="304800"/>
            <a:ext cx="760888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</a:t>
            </a:r>
            <a:endParaRPr sz="3200" b="1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4" name="Google Shape;23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"/>
          <p:cNvSpPr txBox="1"/>
          <p:nvPr/>
        </p:nvSpPr>
        <p:spPr>
          <a:xfrm>
            <a:off x="1642500" y="2089950"/>
            <a:ext cx="9239100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55600" algn="just">
              <a:lnSpc>
                <a:spcPct val="150000"/>
              </a:lnSpc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Protects sensitive data during machine learning.</a:t>
            </a:r>
          </a:p>
          <a:p>
            <a:pPr marL="457200" lvl="0" indent="-355600" algn="just">
              <a:lnSpc>
                <a:spcPct val="150000"/>
              </a:lnSpc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a Multi-Objective Autoencoder for feature learning.</a:t>
            </a:r>
          </a:p>
          <a:p>
            <a:pPr marL="457200" lvl="0" indent="-355600" algn="just">
              <a:lnSpc>
                <a:spcPct val="150000"/>
              </a:lnSpc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Balances privacy, data utility, and model accuracy.</a:t>
            </a:r>
          </a:p>
          <a:p>
            <a:pPr marL="457200" lvl="0" indent="-355600" algn="just">
              <a:lnSpc>
                <a:spcPct val="150000"/>
              </a:lnSpc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Prevents leakage of confidential information.</a:t>
            </a:r>
          </a:p>
          <a:p>
            <a:pPr marL="457200" lvl="0" indent="-355600" algn="just">
              <a:lnSpc>
                <a:spcPct val="150000"/>
              </a:lnSpc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Suitable for healthcare, finance, and smart applications.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"/>
          <p:cNvSpPr txBox="1">
            <a:spLocks noGrp="1"/>
          </p:cNvSpPr>
          <p:nvPr>
            <p:ph type="title"/>
          </p:nvPr>
        </p:nvSpPr>
        <p:spPr>
          <a:xfrm>
            <a:off x="1981200" y="31481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</a:t>
            </a:r>
            <a:endParaRPr sz="3200" b="1" dirty="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3" name="Google Shape;24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54485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989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"/>
          <p:cNvSpPr txBox="1"/>
          <p:nvPr/>
        </p:nvSpPr>
        <p:spPr>
          <a:xfrm>
            <a:off x="2351584" y="1844824"/>
            <a:ext cx="7704900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1950">
              <a:lnSpc>
                <a:spcPct val="200000"/>
              </a:lnSpc>
              <a:buClr>
                <a:schemeClr val="dk1"/>
              </a:buClr>
              <a:buSzPts val="2100"/>
              <a:buChar char="•"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 user privacy in machine learning.</a:t>
            </a:r>
          </a:p>
          <a:p>
            <a:pPr marL="457200" lvl="0" indent="-361950">
              <a:lnSpc>
                <a:spcPct val="200000"/>
              </a:lnSpc>
              <a:buClr>
                <a:schemeClr val="dk1"/>
              </a:buClr>
              <a:buSzPts val="2100"/>
              <a:buChar char="•"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 robust and meaningful data representations.</a:t>
            </a:r>
          </a:p>
          <a:p>
            <a:pPr marL="457200" lvl="0" indent="-361950">
              <a:lnSpc>
                <a:spcPct val="200000"/>
              </a:lnSpc>
              <a:buClr>
                <a:schemeClr val="dk1"/>
              </a:buClr>
              <a:buSzPts val="2100"/>
              <a:buChar char="•"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sensitive information leakage.</a:t>
            </a:r>
          </a:p>
          <a:p>
            <a:pPr marL="457200" lvl="0" indent="-361950">
              <a:lnSpc>
                <a:spcPct val="200000"/>
              </a:lnSpc>
              <a:buClr>
                <a:schemeClr val="dk1"/>
              </a:buClr>
              <a:buSzPts val="2100"/>
              <a:buChar char="•"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 high prediction accuracy.</a:t>
            </a:r>
          </a:p>
          <a:p>
            <a:pPr marL="457200" lvl="0" indent="-361950">
              <a:lnSpc>
                <a:spcPct val="200000"/>
              </a:lnSpc>
              <a:buClr>
                <a:schemeClr val="dk1"/>
              </a:buClr>
              <a:buSzPts val="2100"/>
              <a:buChar char="•"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secure AI applications.</a:t>
            </a: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"/>
          <p:cNvSpPr/>
          <p:nvPr/>
        </p:nvSpPr>
        <p:spPr>
          <a:xfrm>
            <a:off x="2714200" y="447375"/>
            <a:ext cx="6934200" cy="10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2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DIAGRAM</a:t>
            </a:r>
            <a:r>
              <a:rPr lang="en-US" sz="28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200" b="1" i="0" u="none" strike="noStrike" cap="none" dirty="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2" name="Google Shape;25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6625" y="1459600"/>
            <a:ext cx="4823826" cy="503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DAB0B4-6C21-A250-2902-39DF269FB82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986" t="12445" r="2589"/>
          <a:stretch>
            <a:fillRect/>
          </a:stretch>
        </p:blipFill>
        <p:spPr>
          <a:xfrm>
            <a:off x="1898650" y="1271588"/>
            <a:ext cx="8280903" cy="51189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27A27-8AAB-6506-41AE-FC430E37F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9718"/>
            <a:ext cx="10971213" cy="1143000"/>
          </a:xfrm>
        </p:spPr>
        <p:txBody>
          <a:bodyPr/>
          <a:lstStyle/>
          <a:p>
            <a:r>
              <a:rPr lang="en-US" sz="4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</a:t>
            </a:r>
            <a:r>
              <a:rPr lang="en-US" sz="3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LITERATURE SURVEY         </a:t>
            </a:r>
            <a:endParaRPr lang="en-IN" sz="3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1DF19-8981-AE85-2D37-C726F428B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387283"/>
            <a:ext cx="10971213" cy="1524317"/>
          </a:xfrm>
        </p:spPr>
        <p:txBody>
          <a:bodyPr/>
          <a:lstStyle/>
          <a:p>
            <a:r>
              <a:rPr lang="en-IN" dirty="0" err="1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Literature_Survey_Robust_Privacy_Preserving_ML_Final</a:t>
            </a:r>
            <a:r>
              <a:rPr lang="en-IN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2 gpt.xlsx</a:t>
            </a:r>
            <a:endParaRPr lang="en-IN" dirty="0">
              <a:solidFill>
                <a:schemeClr val="tx1"/>
              </a:solidFill>
            </a:endParaRPr>
          </a:p>
          <a:p>
            <a:endParaRPr lang="en-IN" dirty="0"/>
          </a:p>
        </p:txBody>
      </p:sp>
      <p:pic>
        <p:nvPicPr>
          <p:cNvPr id="5" name="Google Shape;252;p5">
            <a:extLst>
              <a:ext uri="{FF2B5EF4-FFF2-40B4-BE49-F238E27FC236}">
                <a16:creationId xmlns:a16="http://schemas.microsoft.com/office/drawing/2014/main" id="{E74BFF70-918C-D963-2347-84C5E6E1EF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53;p5">
            <a:extLst>
              <a:ext uri="{FF2B5EF4-FFF2-40B4-BE49-F238E27FC236}">
                <a16:creationId xmlns:a16="http://schemas.microsoft.com/office/drawing/2014/main" id="{820C783E-9197-83F6-BC69-C3716B88C4A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1650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AA96E-5F49-0632-A34F-99F368FF0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RESEARCH METHODOLOGY  </a:t>
            </a:r>
            <a:endParaRPr lang="en-IN" sz="3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76B8C-CAC9-C04D-EEC8-E50AA2640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818323"/>
            <a:ext cx="10971213" cy="3975100"/>
          </a:xfrm>
        </p:spPr>
        <p:txBody>
          <a:bodyPr/>
          <a:lstStyle/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the dataset by handling missing values and normalizing features.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sensitive and non-sensitive attributes in the dataset.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Multi-Objective Autoencoder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learn a robust latent representation.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reconstruction, privacy, and robustness objectives simultaneously.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learned privacy-preserving representation for machine-learning prediction.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model based on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privacy protection, and robustness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IN" dirty="0"/>
          </a:p>
        </p:txBody>
      </p:sp>
      <p:pic>
        <p:nvPicPr>
          <p:cNvPr id="5" name="Google Shape;252;p5">
            <a:extLst>
              <a:ext uri="{FF2B5EF4-FFF2-40B4-BE49-F238E27FC236}">
                <a16:creationId xmlns:a16="http://schemas.microsoft.com/office/drawing/2014/main" id="{09F91933-7173-3486-0CD0-0594306D6CF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53;p5">
            <a:extLst>
              <a:ext uri="{FF2B5EF4-FFF2-40B4-BE49-F238E27FC236}">
                <a16:creationId xmlns:a16="http://schemas.microsoft.com/office/drawing/2014/main" id="{B43B3439-0F5D-1A02-241E-5F92F81F7D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38312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/>
          </a:p>
        </p:txBody>
      </p:sp>
      <p:pic>
        <p:nvPicPr>
          <p:cNvPr id="261" name="Google Shape;26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6"/>
          <p:cNvSpPr txBox="1"/>
          <p:nvPr/>
        </p:nvSpPr>
        <p:spPr>
          <a:xfrm>
            <a:off x="1742300" y="1844825"/>
            <a:ext cx="9125100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55600">
              <a:lnSpc>
                <a:spcPct val="200000"/>
              </a:lnSpc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machine learning models.</a:t>
            </a:r>
          </a:p>
          <a:p>
            <a:pPr marL="457200" lvl="0" indent="-355600">
              <a:lnSpc>
                <a:spcPct val="200000"/>
              </a:lnSpc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privacy protection.</a:t>
            </a:r>
          </a:p>
          <a:p>
            <a:pPr marL="457200" lvl="0" indent="-355600">
              <a:lnSpc>
                <a:spcPct val="200000"/>
              </a:lnSpc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Sensitive data can be leaked.</a:t>
            </a:r>
          </a:p>
          <a:p>
            <a:pPr marL="457200" lvl="0" indent="-355600">
              <a:lnSpc>
                <a:spcPct val="200000"/>
              </a:lnSpc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risk of attacks.</a:t>
            </a:r>
          </a:p>
          <a:p>
            <a:pPr marL="457200" lvl="0" indent="-355600">
              <a:lnSpc>
                <a:spcPct val="200000"/>
              </a:lnSpc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robustness against adversarial threats.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sz="3200" b="1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0" name="Google Shape;27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7"/>
          <p:cNvSpPr txBox="1"/>
          <p:nvPr/>
        </p:nvSpPr>
        <p:spPr>
          <a:xfrm>
            <a:off x="2351575" y="1702375"/>
            <a:ext cx="7503300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55600">
              <a:lnSpc>
                <a:spcPct val="150000"/>
              </a:lnSpc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Multi-Objective Autoencoder framework.</a:t>
            </a:r>
          </a:p>
          <a:p>
            <a:pPr marL="457200" lvl="0" indent="-355600">
              <a:lnSpc>
                <a:spcPct val="150000"/>
              </a:lnSpc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Learns privacy-preserving representations.</a:t>
            </a:r>
          </a:p>
          <a:p>
            <a:pPr marL="457200" lvl="0" indent="-355600">
              <a:lnSpc>
                <a:spcPct val="150000"/>
              </a:lnSpc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Optimizes reconstruction and privacy simultaneously.</a:t>
            </a:r>
          </a:p>
          <a:p>
            <a:pPr marL="457200" lvl="0" indent="-355600">
              <a:lnSpc>
                <a:spcPct val="150000"/>
              </a:lnSpc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Produces robust features for classification.</a:t>
            </a:r>
          </a:p>
          <a:p>
            <a:pPr marL="457200" lvl="0" indent="-355600">
              <a:lnSpc>
                <a:spcPct val="150000"/>
              </a:lnSpc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accuracy with improved data security.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 sz="4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9" name="Google Shape;27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2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2" y="258762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8"/>
          <p:cNvSpPr txBox="1"/>
          <p:nvPr/>
        </p:nvSpPr>
        <p:spPr>
          <a:xfrm>
            <a:off x="2063550" y="1727025"/>
            <a:ext cx="8272800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 algn="just">
              <a:lnSpc>
                <a:spcPct val="200000"/>
              </a:lnSpc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Enhances privacy in machine learning.</a:t>
            </a:r>
          </a:p>
          <a:p>
            <a:pPr marL="457200" lvl="0" indent="-381000" algn="just">
              <a:lnSpc>
                <a:spcPct val="200000"/>
              </a:lnSpc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Protects confidential user information.</a:t>
            </a:r>
          </a:p>
          <a:p>
            <a:pPr marL="457200" lvl="0" indent="-381000" algn="just">
              <a:lnSpc>
                <a:spcPct val="200000"/>
              </a:lnSpc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Maintains strong prediction performance.</a:t>
            </a:r>
          </a:p>
          <a:p>
            <a:pPr marL="457200" lvl="0" indent="-381000" algn="just">
              <a:lnSpc>
                <a:spcPct val="200000"/>
              </a:lnSpc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Generates robust feature representations.</a:t>
            </a:r>
          </a:p>
          <a:p>
            <a:pPr marL="457200" lvl="0" indent="-381000" algn="just">
              <a:lnSpc>
                <a:spcPct val="200000"/>
              </a:lnSpc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Suitable for real-world secure AI systems.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</a:t>
            </a: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ENHANCEMENT             </a:t>
            </a:r>
            <a:endParaRPr sz="3200"/>
          </a:p>
        </p:txBody>
      </p:sp>
      <p:sp>
        <p:nvSpPr>
          <p:cNvPr id="287" name="Google Shape;287;p9"/>
          <p:cNvSpPr txBox="1">
            <a:spLocks noGrp="1"/>
          </p:cNvSpPr>
          <p:nvPr>
            <p:ph type="body" idx="1"/>
          </p:nvPr>
        </p:nvSpPr>
        <p:spPr>
          <a:xfrm>
            <a:off x="1631504" y="1658731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355600" algn="just">
              <a:lnSpc>
                <a:spcPct val="150000"/>
              </a:lnSpc>
              <a:buSzPts val="2000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Federated learning integration.</a:t>
            </a:r>
          </a:p>
          <a:p>
            <a:pPr lvl="0" indent="-355600" algn="just">
              <a:lnSpc>
                <a:spcPct val="150000"/>
              </a:lnSpc>
              <a:buSzPts val="2000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Differential privacy techniques.</a:t>
            </a:r>
          </a:p>
          <a:p>
            <a:pPr lvl="0" indent="-355600" algn="just">
              <a:lnSpc>
                <a:spcPct val="150000"/>
              </a:lnSpc>
              <a:buSzPts val="2000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Blockchain-based secure data sharing.</a:t>
            </a:r>
          </a:p>
          <a:p>
            <a:pPr lvl="0" indent="-355600" algn="just">
              <a:lnSpc>
                <a:spcPct val="150000"/>
              </a:lnSpc>
              <a:buSzPts val="2000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Real-time deployment on edge devices.</a:t>
            </a:r>
          </a:p>
          <a:p>
            <a:pPr lvl="0" indent="-355600" algn="just">
              <a:lnSpc>
                <a:spcPct val="150000"/>
              </a:lnSpc>
              <a:buSzPts val="2000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Support for multimodal datasets.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2/7/20</a:t>
            </a:r>
            <a:endParaRPr/>
          </a:p>
        </p:txBody>
      </p:sp>
      <p:pic>
        <p:nvPicPr>
          <p:cNvPr id="289" name="Google Shape;28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2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2" y="258762"/>
            <a:ext cx="1154112" cy="110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"/>
          <p:cNvSpPr txBox="1">
            <a:spLocks noGrp="1"/>
          </p:cNvSpPr>
          <p:nvPr>
            <p:ph type="title"/>
          </p:nvPr>
        </p:nvSpPr>
        <p:spPr>
          <a:xfrm>
            <a:off x="1919536" y="256490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380</Words>
  <Application>Microsoft Office PowerPoint</Application>
  <PresentationFormat>Widescreen</PresentationFormat>
  <Paragraphs>76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Noto Sans Symbols</vt:lpstr>
      <vt:lpstr>Times New Roman</vt:lpstr>
      <vt:lpstr>Office Theme</vt:lpstr>
      <vt:lpstr>1_Office Theme</vt:lpstr>
      <vt:lpstr>2_Office Theme</vt:lpstr>
      <vt:lpstr>PowerPoint Presentation</vt:lpstr>
      <vt:lpstr>PRESENTATION OVERVIEW</vt:lpstr>
      <vt:lpstr>ABSTRACT </vt:lpstr>
      <vt:lpstr>OBJECTIVE </vt:lpstr>
      <vt:lpstr>PowerPoint Presentation</vt:lpstr>
      <vt:lpstr>                       LITERATURE SURVEY         </vt:lpstr>
      <vt:lpstr>                               RESEARCH METHODOLOGY  </vt:lpstr>
      <vt:lpstr>EXISTING SYSTEM</vt:lpstr>
      <vt:lpstr>PROPOSED SYSTEM</vt:lpstr>
      <vt:lpstr>CONCLUSION </vt:lpstr>
      <vt:lpstr>                     FUTURE ENHANCEMENT            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KAVI LAKSHMI</dc:creator>
  <cp:lastModifiedBy>KAVILAKSHMI B</cp:lastModifiedBy>
  <cp:revision>2</cp:revision>
  <dcterms:modified xsi:type="dcterms:W3CDTF">2026-08-16T13:17:23Z</dcterms:modified>
</cp:coreProperties>
</file>